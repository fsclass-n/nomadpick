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70" r:id="rId22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안녕하십니까, 3조 트래블핏 발표를 맡은 조장 김길동입니다. 여러 여행사의 특가를 RPA로 자동 수집해 맞춤 추천하는 서비스를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설문 결과로 여행 특가 탐색의 반복 작업 문제를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사용자·RPA·관리자 기능을 나눠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실행계획의 4단계와 조원별 역할입니다.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Render의 웹·API와 EC2의 RPA 수집기가 RPA 전용 키로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봇 3종과 수집 원칙·예외 처리를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 실행부터 DB 적재까지의 흐름입니다.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가격 표준화와 추천 점수 산식을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구현·테스트 중 겪은 대표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테스트 82건 결과와 비기능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시연은 이오리가 진행합니다.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 달성 결과와 Final-Project 연계 계획입니다.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95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Semi-Project  |  심화_생성형 AI와 AWS 클라우드를 활용한 풀스택 &amp; 자동화 실무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 (NomadPick)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RPA 기반 개인 맞춤형 여행상품 추천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1280160" cy="64008"/>
          </a:xfrm>
          <a:prstGeom prst="rect">
            <a:avLst/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3조 · 김길동(조장) · 박미금 · 이오리 · 홍기흥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2026-11-23  결과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3756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33756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0624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07492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0020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688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46888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3756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33756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0749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07492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왜 만들었나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30분 이상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여러 여행사 사이트를 돌며 특가를 비교하는 데 30분 이상 (설문 30명)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3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6823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3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3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특가 놓침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3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마감된 특가를 뒤늦게 알았던 경험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7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7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7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7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목표 탐색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평균 30분 → 5분 이내로 단축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여행사마다 특가 페이지와 가격 표기("1,290,000원~", "129만원")가 달라 직접 비교가 어려움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RPA로 특가를 30분마다 자동 수집·정리하고, 선호에 맞는 상품만 골라 추천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원칙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약관·robots.txt 확인, 공개 페이지만 2초 간격 수집, 예약은 원 여행사로 연결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무엇을 하나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704087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965"/>
                <a:gridCol w="1760220"/>
                <a:gridCol w="4141694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선호 설정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지역·예산·출발월·기간·테마·동행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오늘의 특가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통합 목록, 필터·정렬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맞춤 추천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Top 10 + 추천 사유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상세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추이(Plotly), 국내선 항공편, 원문 링크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상품·엑셀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하락 표시, 추천 엑셀 다운로드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하나투어·모두투어·노랑풍선 30분 주기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정제·리포트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pandas 표준화, 일일 엑셀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모니터링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여행사별 성공률·오류 로그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63840" y="1463040"/>
            <a:ext cx="3749039" cy="38404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383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페르소나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정하늘(29, 직장인)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금요일 출발 3박 4일, 100만 원 이하 동남아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최유진(24, 대학생)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60만 원 이하 일본·대만 자유여행 특가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오세훈(45, 가족 여행)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효도 패키지·국내선 항공편 시간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2026-11-05 ~ 11-23 · 96시간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6423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146"/>
                <a:gridCol w="2253826"/>
                <a:gridCol w="7171266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담당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김길동 (조장)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백엔드 ·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 관리, FastAPI 20개 API, 인증, Docker·Render·EC2 배포, 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박미금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데이터 처리 · 추천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10개 테이블, pandas 정제, scikit-learn 유사도 추천, 엑셀 리포트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이오리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프런트엔드 · UI/UX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8개(HTML5·Vanilla JS·Bootstrap 5), Plotly 차트, Netlify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홍기흥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 · 데이터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3곳 수집기(Playwright·BS4), 국토교통부 API 연동, 스케줄러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  <p:sp>
        <p:nvSpPr>
          <p:cNvPr id="10" name="Pentagon 9"/>
          <p:cNvSpPr/>
          <p:nvPr/>
        </p:nvSpPr>
        <p:spPr>
          <a:xfrm>
            <a:off x="548640" y="3291840"/>
            <a:ext cx="2739313" cy="777240"/>
          </a:xfrm>
          <a:prstGeom prst="homePlate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기획/분석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11/05 ~ 11/06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13시간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기획서 · 역할 분담표 · WBS
위험 관리 · 요구사항
시스템 구성도 · 개발 환경</a:t>
            </a:r>
          </a:p>
        </p:txBody>
      </p:sp>
      <p:sp>
        <p:nvSpPr>
          <p:cNvPr id="15" name="Chevron 14"/>
          <p:cNvSpPr/>
          <p:nvPr/>
        </p:nvSpPr>
        <p:spPr>
          <a:xfrm>
            <a:off x="3333673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273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3673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11/09 ~ 11/10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3673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16시간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5113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ERD·테이블 정의서
화면 설계서 · API 명세서</a:t>
            </a:r>
          </a:p>
        </p:txBody>
      </p:sp>
      <p:sp>
        <p:nvSpPr>
          <p:cNvPr id="20" name="Chevron 19"/>
          <p:cNvSpPr/>
          <p:nvPr/>
        </p:nvSpPr>
        <p:spPr>
          <a:xfrm>
            <a:off x="6118706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7306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8706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11/11 ~ 11/18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8706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6일 · 48시간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146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기능 구현 목록
(14개 기능)</a:t>
            </a:r>
          </a:p>
        </p:txBody>
      </p:sp>
      <p:sp>
        <p:nvSpPr>
          <p:cNvPr id="25" name="Chevron 24"/>
          <p:cNvSpPr/>
          <p:nvPr/>
        </p:nvSpPr>
        <p:spPr>
          <a:xfrm>
            <a:off x="8903739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2339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3739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11/19 ~ 11/23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3739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 · 19시간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179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결과서 · 결과보고서
결과물 제출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Netlify + Render + EC2 + TiDB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027" y="1371600"/>
            <a:ext cx="7274426" cy="46397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1463040"/>
            <a:ext cx="35661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Frontend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HTML5·CSS3·Vanilla JS·Bootstrap 5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Backend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FastAPI (Render → EC2, Docker)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Database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MySQL 8.x(개발) / TiDB(운영)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· Playwright · BS4 (APScheduler)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공공데이터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국토교통부 국내항공운항정보(TAGO)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Python RPA 3종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4099"/>
                <a:gridCol w="1860358"/>
                <a:gridCol w="7049781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주기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 내용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BOT-01 특가 수집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 (09~21시)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Playwright로 홈 → 특가 페이지(2초 간격) → BeautifulSoup4/JSON 파싱 → pandas 정제 → 일괄 등록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BOT-02 국토교통부 API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07:00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공항 목록·국내 상품 출발일 국내선 운항정보 수집 → 공항 ID 매핑 → 갱신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BOT-03 일일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21:30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특가 집계 → Seaborn·Matplotlib 차트 → 엑셀 리포트 업로드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114800"/>
            <a:ext cx="107899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셀렉터 설정 파일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여행사별 CSS 셀렉터를 selectors.json으로 분리, 홈에서 현재 특가 기획전 자동 탐색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예외 처리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HTTP 오류 3회 재시도(2·4·8초), 파싱 실패율 20% 초과 시 해당 여행사 수집 중단·경고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원칙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robots.txt(RFC 9309) 준수, 사람과 같은 브라우저(Playwright) 접근, 상품명·가격 등 사실 정보만 저장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 수집·정제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30분마다 자동 실행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8498" y="1371600"/>
            <a:ext cx="8764524" cy="44432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pandas + scikit-learn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10000"/>
            </a:avLst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60704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추천 점수 = 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유사도 × 60 + 할인율 가점(최대 20) + 출발월 일치 10 + 예산 내 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선호 유사도: 상품 피처와 선호 벡터의 코사인 유사도 · 잔여석 0·출발 경과 상품 제외, 동일 도시 최대 2건 (생성형 AI 미사용)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8,800건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1일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3개 여행사, 고유 상품 약 330개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7278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7278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0158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158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정제 오류율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158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가격·박/일·출발일 표준화, 중복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5916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5916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8796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4.2점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만족도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796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Top 10 + 추천 사유 (5점 만점, 12명)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4554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04554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7434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21:30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7434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일일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7434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엑셀 + Seaborn·Matplotlib 차트 자동 생성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Trouble Shooting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00400"/>
                <a:gridCol w="48463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모두투어 Access Denied·목록 0건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봇형 요청 차단·JS 렌더링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 사람과 같은 브라우저 접근(UA·로케일·스크롤)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파싱 오류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"1,290,000원~", "129만원" 등 표기 상이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정규식 parse_price 함수 + 표기 유형별 단위 테스트 22건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상품 중복 노출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기획전에 동일 상품 반복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(여행사, 상품 코드, 출발일) 키로 중복 제거 후 upsert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노랑풍선 가격 중복 파싱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정상가·특가 동시 표기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특가(p.sale) 우선 셀렉터, 회귀 테스트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국내선 항공편 매칭 실패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제주/제주도 등 도시명 차이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도시-공항 ID 매핑 테이블 적용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테스트 11/19 ~ 11/20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106건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단위·통합 테스트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1차 성공 103건, 결함 조치 후 전체 통과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7278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278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158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3건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158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158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 중복 파싱, 항공편 매칭, 모바일 필터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97.4%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3일간 72회 실행 (기준 95%)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4554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7434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0.41초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7434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목록 API 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7434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추천 API 0.63초 (기준 1초)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3931920"/>
          <a:ext cx="110642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9"/>
                <a:gridCol w="1280159"/>
                <a:gridCol w="1280159"/>
                <a:gridCol w="2194559"/>
                <a:gridCol w="2194559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케이스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 (pytest: 파서·정제·추천·API)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 (기능 시나리오)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→ 조치 후 성공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90.0% → 100%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약 3분 · nomadpick.duckdns.org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463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4630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설정: 동남아 · 100만 원 이하 · 12월 출발 · 3~4박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1488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488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오늘의 특가: 여행사 3곳 통합 목록, 할인율 정렬·필터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346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346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맞춤 추천 Top 10과 추천 사유 확인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5204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204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204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상품 상세: 30일 가격 추이, 국내선 항공편(국토교통부), 원 여행사 링크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2062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062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062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결과 엑셀 다운로드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892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8920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관리자 수집 모니터링: 여행사별 성공률·오류 로그, 일일 리포트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Final-Project로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/>
                <a:gridCol w="2895600"/>
                <a:gridCol w="115824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성공률 95%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 오류율 1% 미만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추천 만족도 4.0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정리 자동화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리포트·추천 엑셀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클라우드 배포·CI/CD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Netlify + Render + EC2 + TiDB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1554480"/>
            <a:ext cx="3931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규칙·유사도 기반 추천, 추천 이유가 단순 태그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개선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Google Gemini로 추천 근거를 자연어로 설명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재사용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수집기 프레임워크·가격 스냅샷·Docker·Render/EC2 배포를 Final-Project에 재사용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주요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로컬 통합 테스트 화면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55767" cy="2080260"/>
          </a:xfrm>
          <a:prstGeom prst="rect">
            <a:avLst/>
          </a:prstGeom>
          <a:ln>
            <a:solidFill>
              <a:srgbClr val="DEE2E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/>
              <a:t>오늘의 특가 (SC-04)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325880"/>
            <a:ext cx="5455767" cy="2080260"/>
          </a:xfrm>
          <a:prstGeom prst="rect">
            <a:avLst/>
          </a:prstGeom>
          <a:ln>
            <a:solidFill>
              <a:srgbClr val="DEE2E6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87287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/>
              <a:t>맞춤 추천 Top 10 (SC-05)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09060"/>
            <a:ext cx="5455767" cy="2080260"/>
          </a:xfrm>
          <a:prstGeom prst="rect">
            <a:avLst/>
          </a:prstGeom>
          <a:ln>
            <a:solidFill>
              <a:srgbClr val="DEE2E6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/>
              <a:t>상품 상세 · 가격 추이 · 국내선 항공편 (SC-06)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287" y="3909060"/>
            <a:ext cx="5455767" cy="2080260"/>
          </a:xfrm>
          <a:prstGeom prst="rect">
            <a:avLst/>
          </a:prstGeom>
          <a:ln>
            <a:solidFill>
              <a:srgbClr val="DEE2E6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187287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/>
              <a:t>관리자 수집 모니터링 (SC-08)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