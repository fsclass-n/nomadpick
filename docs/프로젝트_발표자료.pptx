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안녕하십니까, 3조 트래블핏 발표를 맡은 조장 김길동입니다. 여러 여행사의 특가를 RPA로 자동 수집해 맞춤 추천하는 서비스를 소개하겠습니다.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설문 결과로 여행 특가 탐색의 반복 작업 문제를 제시합니다.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사용자·RPA·관리자 기능을 나눠 설명합니다.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실행계획의 4단계와 조원별 역할입니다.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Render의 웹·API와 EC2의 RPA 수집기가 RPA 전용 키로 연동됩니다.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봇 3종과 수집 원칙·예외 처리를 설명합니다.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cron 실행부터 DB 적재까지의 흐름입니다.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가격 표준화와 추천 점수 산식을 설명합니다.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구현·테스트 중 겪은 대표 문제입니다.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테스트 82건 결과와 비기능 지표입니다.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시연은 이오리가 진행합니다.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목표 달성 결과와 Final-Project 연계 계획입니다.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6E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846320"/>
            <a:ext cx="12191695" cy="2011680"/>
          </a:xfrm>
          <a:prstGeom prst="rect">
            <a:avLst/>
          </a:prstGeom>
          <a:solidFill>
            <a:srgbClr val="0952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005840"/>
            <a:ext cx="105156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Semi-Project  |  심화_생성형 AI와 AWS 클라우드를 활용한 풀스택 &amp; 자동화 실무 개발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737360"/>
            <a:ext cx="10515600" cy="12801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5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트래블핏 (TravelFit)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017520"/>
            <a:ext cx="1051560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RPA 기반 개인 맞춤형 여행상품 추천 서비스</a:t>
            </a:r>
          </a:p>
        </p:txBody>
      </p:sp>
      <p:sp>
        <p:nvSpPr>
          <p:cNvPr id="7" name="Rectangle 6"/>
          <p:cNvSpPr/>
          <p:nvPr/>
        </p:nvSpPr>
        <p:spPr>
          <a:xfrm>
            <a:off x="868680" y="3977639"/>
            <a:ext cx="1280160" cy="64008"/>
          </a:xfrm>
          <a:prstGeom prst="rect">
            <a:avLst/>
          </a:prstGeom>
          <a:solidFill>
            <a:srgbClr val="FD7E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5257800"/>
            <a:ext cx="73152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3조 · 김길동(조장) · 박미금 · 이오리 · 홍기흥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5760720"/>
            <a:ext cx="73152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2026-11-23  결과 발표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D6E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57200"/>
            <a:ext cx="109728" cy="566928"/>
          </a:xfrm>
          <a:prstGeom prst="rect">
            <a:avLst/>
          </a:prstGeom>
          <a:solidFill>
            <a:srgbClr val="0D6E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84048"/>
            <a:ext cx="914400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목차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188720"/>
            <a:ext cx="11094415" cy="0"/>
          </a:xfrm>
          <a:prstGeom prst="line">
            <a:avLst/>
          </a:prstGeom>
          <a:ln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6400800"/>
            <a:ext cx="8229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트래블핏(TravelFit) · Semi-Project · 3조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28655" y="6400800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8" name="Oval 7"/>
          <p:cNvSpPr/>
          <p:nvPr/>
        </p:nvSpPr>
        <p:spPr>
          <a:xfrm>
            <a:off x="822960" y="1600200"/>
            <a:ext cx="640080" cy="640080"/>
          </a:xfrm>
          <a:prstGeom prst="ellipse">
            <a:avLst/>
          </a:prstGeom>
          <a:solidFill>
            <a:srgbClr val="0D6E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600200"/>
            <a:ext cx="640080" cy="6400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45920" y="1600200"/>
            <a:ext cx="4572000" cy="6400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0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프로젝트 배경</a:t>
            </a:r>
          </a:p>
        </p:txBody>
      </p:sp>
      <p:sp>
        <p:nvSpPr>
          <p:cNvPr id="11" name="Oval 10"/>
          <p:cNvSpPr/>
          <p:nvPr/>
        </p:nvSpPr>
        <p:spPr>
          <a:xfrm>
            <a:off x="822960" y="2468880"/>
            <a:ext cx="640080" cy="640080"/>
          </a:xfrm>
          <a:prstGeom prst="ellipse">
            <a:avLst/>
          </a:prstGeom>
          <a:solidFill>
            <a:srgbClr val="0D6E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2468880"/>
            <a:ext cx="640080" cy="6400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45920" y="2468880"/>
            <a:ext cx="4572000" cy="6400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0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서비스 소개</a:t>
            </a:r>
          </a:p>
        </p:txBody>
      </p:sp>
      <p:sp>
        <p:nvSpPr>
          <p:cNvPr id="14" name="Oval 13"/>
          <p:cNvSpPr/>
          <p:nvPr/>
        </p:nvSpPr>
        <p:spPr>
          <a:xfrm>
            <a:off x="822960" y="3337560"/>
            <a:ext cx="640080" cy="640080"/>
          </a:xfrm>
          <a:prstGeom prst="ellipse">
            <a:avLst/>
          </a:prstGeom>
          <a:solidFill>
            <a:srgbClr val="0D6E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3337560"/>
            <a:ext cx="640080" cy="6400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45920" y="3337560"/>
            <a:ext cx="4572000" cy="6400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0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조 구성 및 수행 일정</a:t>
            </a:r>
          </a:p>
        </p:txBody>
      </p:sp>
      <p:sp>
        <p:nvSpPr>
          <p:cNvPr id="17" name="Oval 16"/>
          <p:cNvSpPr/>
          <p:nvPr/>
        </p:nvSpPr>
        <p:spPr>
          <a:xfrm>
            <a:off x="822960" y="4206240"/>
            <a:ext cx="640080" cy="640080"/>
          </a:xfrm>
          <a:prstGeom prst="ellipse">
            <a:avLst/>
          </a:prstGeom>
          <a:solidFill>
            <a:srgbClr val="0D6E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4206240"/>
            <a:ext cx="640080" cy="6400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45920" y="4206240"/>
            <a:ext cx="4572000" cy="6400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0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시스템 구성</a:t>
            </a:r>
          </a:p>
        </p:txBody>
      </p:sp>
      <p:sp>
        <p:nvSpPr>
          <p:cNvPr id="20" name="Oval 19"/>
          <p:cNvSpPr/>
          <p:nvPr/>
        </p:nvSpPr>
        <p:spPr>
          <a:xfrm>
            <a:off x="822960" y="5074920"/>
            <a:ext cx="640080" cy="640080"/>
          </a:xfrm>
          <a:prstGeom prst="ellipse">
            <a:avLst/>
          </a:prstGeom>
          <a:solidFill>
            <a:srgbClr val="0D6E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60" y="5074920"/>
            <a:ext cx="640080" cy="6400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05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645920" y="5074920"/>
            <a:ext cx="4572000" cy="6400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0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핵심 기술: RPA 수집</a:t>
            </a:r>
          </a:p>
        </p:txBody>
      </p:sp>
      <p:sp>
        <p:nvSpPr>
          <p:cNvPr id="23" name="Oval 22"/>
          <p:cNvSpPr/>
          <p:nvPr/>
        </p:nvSpPr>
        <p:spPr>
          <a:xfrm>
            <a:off x="6400800" y="1600200"/>
            <a:ext cx="640080" cy="640080"/>
          </a:xfrm>
          <a:prstGeom prst="ellipse">
            <a:avLst/>
          </a:prstGeom>
          <a:solidFill>
            <a:srgbClr val="0D6E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0" y="1600200"/>
            <a:ext cx="640080" cy="6400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06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23760" y="1600200"/>
            <a:ext cx="4572000" cy="6400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0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데이터 정제 및 추천</a:t>
            </a:r>
          </a:p>
        </p:txBody>
      </p:sp>
      <p:sp>
        <p:nvSpPr>
          <p:cNvPr id="26" name="Oval 25"/>
          <p:cNvSpPr/>
          <p:nvPr/>
        </p:nvSpPr>
        <p:spPr>
          <a:xfrm>
            <a:off x="6400800" y="2468880"/>
            <a:ext cx="640080" cy="640080"/>
          </a:xfrm>
          <a:prstGeom prst="ellipse">
            <a:avLst/>
          </a:prstGeom>
          <a:solidFill>
            <a:srgbClr val="0D6E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0" y="2468880"/>
            <a:ext cx="640080" cy="6400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07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223760" y="2468880"/>
            <a:ext cx="4572000" cy="6400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0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문제 해결</a:t>
            </a:r>
          </a:p>
        </p:txBody>
      </p:sp>
      <p:sp>
        <p:nvSpPr>
          <p:cNvPr id="29" name="Oval 28"/>
          <p:cNvSpPr/>
          <p:nvPr/>
        </p:nvSpPr>
        <p:spPr>
          <a:xfrm>
            <a:off x="6400800" y="3337560"/>
            <a:ext cx="640080" cy="640080"/>
          </a:xfrm>
          <a:prstGeom prst="ellipse">
            <a:avLst/>
          </a:prstGeom>
          <a:solidFill>
            <a:srgbClr val="0D6E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00800" y="3337560"/>
            <a:ext cx="640080" cy="6400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08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223760" y="3337560"/>
            <a:ext cx="4572000" cy="6400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0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테스트 결과</a:t>
            </a:r>
          </a:p>
        </p:txBody>
      </p:sp>
      <p:sp>
        <p:nvSpPr>
          <p:cNvPr id="32" name="Oval 31"/>
          <p:cNvSpPr/>
          <p:nvPr/>
        </p:nvSpPr>
        <p:spPr>
          <a:xfrm>
            <a:off x="6400800" y="4206240"/>
            <a:ext cx="640080" cy="640080"/>
          </a:xfrm>
          <a:prstGeom prst="ellipse">
            <a:avLst/>
          </a:prstGeom>
          <a:solidFill>
            <a:srgbClr val="0D6E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00800" y="4206240"/>
            <a:ext cx="640080" cy="6400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09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223760" y="4206240"/>
            <a:ext cx="4572000" cy="6400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0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시연</a:t>
            </a:r>
          </a:p>
        </p:txBody>
      </p:sp>
      <p:sp>
        <p:nvSpPr>
          <p:cNvPr id="35" name="Oval 34"/>
          <p:cNvSpPr/>
          <p:nvPr/>
        </p:nvSpPr>
        <p:spPr>
          <a:xfrm>
            <a:off x="6400800" y="5074920"/>
            <a:ext cx="640080" cy="640080"/>
          </a:xfrm>
          <a:prstGeom prst="ellipse">
            <a:avLst/>
          </a:prstGeom>
          <a:solidFill>
            <a:srgbClr val="0D6E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00800" y="5074920"/>
            <a:ext cx="640080" cy="6400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223760" y="5074920"/>
            <a:ext cx="4572000" cy="6400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0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성과 및 향후 계획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D6E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57200"/>
            <a:ext cx="109728" cy="566928"/>
          </a:xfrm>
          <a:prstGeom prst="rect">
            <a:avLst/>
          </a:prstGeom>
          <a:solidFill>
            <a:srgbClr val="0D6E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84048"/>
            <a:ext cx="914400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프로젝트 배경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589520" y="457200"/>
            <a:ext cx="4114800" cy="5486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r">
              <a:spcAft>
                <a:spcPts val="600"/>
              </a:spcAft>
            </a:pPr>
            <a:r>
              <a:rPr sz="140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왜 만들었나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48640" y="1188720"/>
            <a:ext cx="11094415" cy="0"/>
          </a:xfrm>
          <a:prstGeom prst="line">
            <a:avLst/>
          </a:prstGeom>
          <a:ln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48640" y="6400800"/>
            <a:ext cx="8229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트래블핏(TravelFit) · Semi-Project · 3조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00800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554480"/>
            <a:ext cx="3547871" cy="1920240"/>
          </a:xfrm>
          <a:prstGeom prst="roundRect">
            <a:avLst>
              <a:gd name="adj" fmla="val 8000"/>
            </a:avLst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8640" y="1554480"/>
            <a:ext cx="82296" cy="1920240"/>
          </a:xfrm>
          <a:prstGeom prst="rect">
            <a:avLst/>
          </a:prstGeom>
          <a:solidFill>
            <a:srgbClr val="0D6E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1664208"/>
            <a:ext cx="3273551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0D6EFD"/>
                </a:solidFill>
                <a:latin typeface="맑은 고딕"/>
                <a:ea typeface="맑은 고딕"/>
                <a:cs typeface="맑은 고딕"/>
              </a:rPr>
              <a:t>83%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377440"/>
            <a:ext cx="3273551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30분 이상 비교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2743200"/>
            <a:ext cx="3273551" cy="6858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여러 여행사 사이트를 돌며 특가를 비교하는 데 30분 이상 (설문 30명)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06823" y="1554480"/>
            <a:ext cx="3547871" cy="1920240"/>
          </a:xfrm>
          <a:prstGeom prst="roundRect">
            <a:avLst>
              <a:gd name="adj" fmla="val 8000"/>
            </a:avLst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306823" y="1554480"/>
            <a:ext cx="82296" cy="1920240"/>
          </a:xfrm>
          <a:prstGeom prst="rect">
            <a:avLst/>
          </a:prstGeom>
          <a:solidFill>
            <a:srgbClr val="0D6E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89703" y="1664208"/>
            <a:ext cx="3273551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0D6EFD"/>
                </a:solidFill>
                <a:latin typeface="맑은 고딕"/>
                <a:ea typeface="맑은 고딕"/>
                <a:cs typeface="맑은 고딕"/>
              </a:rPr>
              <a:t>70%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89703" y="2377440"/>
            <a:ext cx="3273551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특가 놓침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89703" y="2743200"/>
            <a:ext cx="3273551" cy="6858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마감된 특가를 뒤늦게 알았던 경험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65007" y="1554480"/>
            <a:ext cx="3547871" cy="1920240"/>
          </a:xfrm>
          <a:prstGeom prst="roundRect">
            <a:avLst>
              <a:gd name="adj" fmla="val 8000"/>
            </a:avLst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065007" y="1554480"/>
            <a:ext cx="82296" cy="1920240"/>
          </a:xfrm>
          <a:prstGeom prst="rect">
            <a:avLst/>
          </a:prstGeom>
          <a:solidFill>
            <a:srgbClr val="0D6E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47887" y="1664208"/>
            <a:ext cx="3273551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0D6EFD"/>
                </a:solidFill>
                <a:latin typeface="맑은 고딕"/>
                <a:ea typeface="맑은 고딕"/>
                <a:cs typeface="맑은 고딕"/>
              </a:rPr>
              <a:t>5분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47887" y="2377440"/>
            <a:ext cx="3273551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목표 탐색 시간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47887" y="2743200"/>
            <a:ext cx="3273551" cy="6858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평균 30분 → 5분 이내로 단축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3840480"/>
            <a:ext cx="10789920" cy="21945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200"/>
              </a:spcAft>
            </a:pPr>
            <a:r>
              <a:rPr sz="1400" b="0">
                <a:solidFill>
                  <a:srgbClr val="0D6EFD"/>
                </a:solidFill>
                <a:latin typeface="맑은 고딕"/>
                <a:ea typeface="맑은 고딕"/>
                <a:cs typeface="맑은 고딕"/>
              </a:rPr>
              <a:t>■ </a:t>
            </a:r>
            <a:r>
              <a:rPr sz="1800" b="1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문제</a:t>
            </a:r>
            <a:r>
              <a:rPr sz="180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  여행사마다 특가 페이지와 가격 표기("1,290,000원~", "129만원")가 달라 직접 비교가 어려움</a:t>
            </a:r>
          </a:p>
          <a:p>
            <a:pPr algn="l">
              <a:spcAft>
                <a:spcPts val="1200"/>
              </a:spcAft>
            </a:pPr>
            <a:r>
              <a:rPr sz="1400" b="0">
                <a:solidFill>
                  <a:srgbClr val="0D6EFD"/>
                </a:solidFill>
                <a:latin typeface="맑은 고딕"/>
                <a:ea typeface="맑은 고딕"/>
                <a:cs typeface="맑은 고딕"/>
              </a:rPr>
              <a:t>■ </a:t>
            </a:r>
            <a:r>
              <a:rPr sz="1800" b="1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해결</a:t>
            </a:r>
            <a:r>
              <a:rPr sz="180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  Python RPA로 특가를 30분마다 자동 수집·정리하고, 선호에 맞는 상품만 골라 추천</a:t>
            </a:r>
          </a:p>
          <a:p>
            <a:pPr algn="l">
              <a:spcAft>
                <a:spcPts val="1200"/>
              </a:spcAft>
            </a:pPr>
            <a:r>
              <a:rPr sz="1400" b="0">
                <a:solidFill>
                  <a:srgbClr val="0D6EFD"/>
                </a:solidFill>
                <a:latin typeface="맑은 고딕"/>
                <a:ea typeface="맑은 고딕"/>
                <a:cs typeface="맑은 고딕"/>
              </a:rPr>
              <a:t>■ </a:t>
            </a:r>
            <a:r>
              <a:rPr sz="1800" b="1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원칙</a:t>
            </a:r>
            <a:r>
              <a:rPr sz="180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  약관·robots.txt 확인, 공개 페이지만 2초 간격 수집, 예약은 원 여행사로 연결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D6E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57200"/>
            <a:ext cx="109728" cy="566928"/>
          </a:xfrm>
          <a:prstGeom prst="rect">
            <a:avLst/>
          </a:prstGeom>
          <a:solidFill>
            <a:srgbClr val="0D6E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84048"/>
            <a:ext cx="914400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서비스 소개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589520" y="457200"/>
            <a:ext cx="4114800" cy="5486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r">
              <a:spcAft>
                <a:spcPts val="600"/>
              </a:spcAft>
            </a:pPr>
            <a:r>
              <a:rPr sz="140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무엇을 하나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48640" y="1188720"/>
            <a:ext cx="11094415" cy="0"/>
          </a:xfrm>
          <a:prstGeom prst="line">
            <a:avLst/>
          </a:prstGeom>
          <a:ln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48640" y="6400800"/>
            <a:ext cx="8229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트래블핏(TravelFit) · Semi-Project · 3조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00800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48640" y="1463040"/>
          <a:ext cx="7040879" cy="42793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8965"/>
                <a:gridCol w="1760220"/>
                <a:gridCol w="4141694"/>
              </a:tblGrid>
              <a:tr h="475488"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구분</a:t>
                      </a:r>
                    </a:p>
                  </a:txBody>
                  <a:tcPr marL="73152" marR="73152" marT="27432" marB="27432" anchor="ctr">
                    <a:solidFill>
                      <a:srgbClr val="0D6E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기능</a:t>
                      </a:r>
                    </a:p>
                  </a:txBody>
                  <a:tcPr marL="73152" marR="73152" marT="27432" marB="27432" anchor="ctr">
                    <a:solidFill>
                      <a:srgbClr val="0D6E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설명</a:t>
                      </a:r>
                    </a:p>
                  </a:txBody>
                  <a:tcPr marL="73152" marR="73152" marT="27432" marB="27432" anchor="ctr">
                    <a:solidFill>
                      <a:srgbClr val="0D6EFD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사용자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선호 설정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지역·예산·출발월·기간·테마·동행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사용자</a:t>
                      </a:r>
                    </a:p>
                  </a:txBody>
                  <a:tcPr marL="73152" marR="73152" marT="27432" marB="27432" anchor="ctr">
                    <a:solidFill>
                      <a:srgbClr val="E1EDF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오늘의 특가</a:t>
                      </a:r>
                    </a:p>
                  </a:txBody>
                  <a:tcPr marL="73152" marR="73152" marT="27432" marB="27432" anchor="ctr">
                    <a:solidFill>
                      <a:srgbClr val="E1EDF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여행사 통합 목록, 필터·정렬</a:t>
                      </a:r>
                    </a:p>
                  </a:txBody>
                  <a:tcPr marL="73152" marR="73152" marT="27432" marB="27432" anchor="ctr">
                    <a:solidFill>
                      <a:srgbClr val="E1EDFE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사용자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맞춤 추천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유사도 기반 Top 10 + 추천 사유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사용자</a:t>
                      </a:r>
                    </a:p>
                  </a:txBody>
                  <a:tcPr marL="73152" marR="73152" marT="27432" marB="27432" anchor="ctr">
                    <a:solidFill>
                      <a:srgbClr val="E1EDF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상품 상세</a:t>
                      </a:r>
                    </a:p>
                  </a:txBody>
                  <a:tcPr marL="73152" marR="73152" marT="27432" marB="27432" anchor="ctr">
                    <a:solidFill>
                      <a:srgbClr val="E1EDF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가격 추이(Plotly), 여행경보, 원문 링크</a:t>
                      </a:r>
                    </a:p>
                  </a:txBody>
                  <a:tcPr marL="73152" marR="73152" marT="27432" marB="27432" anchor="ctr">
                    <a:solidFill>
                      <a:srgbClr val="E1EDFE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사용자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관심 상품·엑셀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가격 하락 표시, 추천 엑셀 다운로드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RPA</a:t>
                      </a:r>
                    </a:p>
                  </a:txBody>
                  <a:tcPr marL="73152" marR="73152" marT="27432" marB="27432" anchor="ctr">
                    <a:solidFill>
                      <a:srgbClr val="E1EDF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특가 수집</a:t>
                      </a:r>
                    </a:p>
                  </a:txBody>
                  <a:tcPr marL="73152" marR="73152" marT="27432" marB="27432" anchor="ctr">
                    <a:solidFill>
                      <a:srgbClr val="E1EDF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하나투어·모두투어·노랑풍선 30분 주기</a:t>
                      </a:r>
                    </a:p>
                  </a:txBody>
                  <a:tcPr marL="73152" marR="73152" marT="27432" marB="27432" anchor="ctr">
                    <a:solidFill>
                      <a:srgbClr val="E1EDFE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RPA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정제·리포트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pandas 표준화, 일일 엑셀 리포트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관리자</a:t>
                      </a:r>
                    </a:p>
                  </a:txBody>
                  <a:tcPr marL="73152" marR="73152" marT="27432" marB="27432" anchor="ctr">
                    <a:solidFill>
                      <a:srgbClr val="E1EDF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수집 모니터링</a:t>
                      </a:r>
                    </a:p>
                  </a:txBody>
                  <a:tcPr marL="73152" marR="73152" marT="27432" marB="27432" anchor="ctr">
                    <a:solidFill>
                      <a:srgbClr val="E1EDF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여행사별 성공률·오류 로그</a:t>
                      </a:r>
                    </a:p>
                  </a:txBody>
                  <a:tcPr marL="73152" marR="73152" marT="27432" marB="27432" anchor="ctr">
                    <a:solidFill>
                      <a:srgbClr val="E1EDFE"/>
                    </a:solidFill>
                  </a:tcPr>
                </a:tc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7863840" y="1463040"/>
            <a:ext cx="3749039" cy="3840480"/>
          </a:xfrm>
          <a:prstGeom prst="roundRect">
            <a:avLst>
              <a:gd name="adj" fmla="val 5000"/>
            </a:avLst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92440" y="1600200"/>
            <a:ext cx="3383280" cy="3657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0D6EFD"/>
                </a:solidFill>
                <a:latin typeface="맑은 고딕"/>
                <a:ea typeface="맑은 고딕"/>
                <a:cs typeface="맑은 고딕"/>
              </a:rPr>
              <a:t>페르소나</a:t>
            </a:r>
          </a:p>
          <a:p>
            <a:pPr algn="l">
              <a:spcAft>
                <a:spcPts val="400"/>
              </a:spcAft>
            </a:pPr>
            <a:r>
              <a:rPr sz="1500" b="1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정하늘(29, 직장인)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금요일 출발 3박 4일, 100만 원 이하 동남아</a:t>
            </a:r>
          </a:p>
          <a:p>
            <a:pPr algn="l">
              <a:spcAft>
                <a:spcPts val="400"/>
              </a:spcAft>
            </a:pPr>
            <a:r>
              <a:rPr sz="1500" b="1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최유진(24, 대학생)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60만 원 이하 일본·대만 자유여행 특가</a:t>
            </a:r>
          </a:p>
          <a:p>
            <a:pPr algn="l">
              <a:spcAft>
                <a:spcPts val="400"/>
              </a:spcAft>
            </a:pPr>
            <a:r>
              <a:rPr sz="1500" b="1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오세훈(45, 가족 여행)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여행경보 없는 지역의 효도 패키지 비교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D6E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57200"/>
            <a:ext cx="109728" cy="566928"/>
          </a:xfrm>
          <a:prstGeom prst="rect">
            <a:avLst/>
          </a:prstGeom>
          <a:solidFill>
            <a:srgbClr val="0D6E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84048"/>
            <a:ext cx="914400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조 구성 및 수행 일정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589520" y="457200"/>
            <a:ext cx="4114800" cy="5486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r">
              <a:spcAft>
                <a:spcPts val="600"/>
              </a:spcAft>
            </a:pPr>
            <a:r>
              <a:rPr sz="140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2026-11-05 ~ 11-23 · 96시간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48640" y="1188720"/>
            <a:ext cx="11094415" cy="0"/>
          </a:xfrm>
          <a:prstGeom prst="line">
            <a:avLst/>
          </a:prstGeom>
          <a:ln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48640" y="6400800"/>
            <a:ext cx="8229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트래블핏(TravelFit) · Semi-Project · 3조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00800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5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48640" y="1371600"/>
          <a:ext cx="11064238" cy="1737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39146"/>
                <a:gridCol w="2253826"/>
                <a:gridCol w="7171266"/>
              </a:tblGrid>
              <a:tr h="347472"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이름</a:t>
                      </a:r>
                    </a:p>
                  </a:txBody>
                  <a:tcPr marL="73152" marR="73152" marT="27432" marB="27432" anchor="ctr">
                    <a:solidFill>
                      <a:srgbClr val="0D6E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역할</a:t>
                      </a:r>
                    </a:p>
                  </a:txBody>
                  <a:tcPr marL="73152" marR="73152" marT="27432" marB="27432" anchor="ctr">
                    <a:solidFill>
                      <a:srgbClr val="0D6E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주요 담당</a:t>
                      </a:r>
                    </a:p>
                  </a:txBody>
                  <a:tcPr marL="73152" marR="73152" marT="27432" marB="27432" anchor="ctr">
                    <a:solidFill>
                      <a:srgbClr val="0D6EFD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김길동 (조장)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PM · 백엔드 · 배포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일정·위험 관리, FastAPI 20개 API, 인증, Render·EC2 배포, CI/CD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박미금</a:t>
                      </a:r>
                    </a:p>
                  </a:txBody>
                  <a:tcPr marL="73152" marR="73152" marT="27432" marB="27432" anchor="ctr">
                    <a:solidFill>
                      <a:srgbClr val="E1EDF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DB · 데이터 처리 · 추천</a:t>
                      </a:r>
                    </a:p>
                  </a:txBody>
                  <a:tcPr marL="73152" marR="73152" marT="27432" marB="27432" anchor="ctr">
                    <a:solidFill>
                      <a:srgbClr val="E1EDF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DB 10개 테이블, pandas 정제, scikit-learn 유사도 추천, 엑셀 리포트</a:t>
                      </a:r>
                    </a:p>
                  </a:txBody>
                  <a:tcPr marL="73152" marR="73152" marT="27432" marB="27432" anchor="ctr">
                    <a:solidFill>
                      <a:srgbClr val="E1EDFE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이오리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프런트엔드 · UI/UX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화면 8개(HTML5·Vanilla JS·Bootstrap 5), Plotly 차트, 사용자 테스트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홍기흥</a:t>
                      </a:r>
                    </a:p>
                  </a:txBody>
                  <a:tcPr marL="73152" marR="73152" marT="27432" marB="27432" anchor="ctr">
                    <a:solidFill>
                      <a:srgbClr val="E1EDF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RPA · 데이터 수집</a:t>
                      </a:r>
                    </a:p>
                  </a:txBody>
                  <a:tcPr marL="73152" marR="73152" marT="27432" marB="27432" anchor="ctr">
                    <a:solidFill>
                      <a:srgbClr val="E1EDF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여행사 3곳 수집기(Requests·BS4), 공공데이터 연동, EC2 cron</a:t>
                      </a:r>
                    </a:p>
                  </a:txBody>
                  <a:tcPr marL="73152" marR="73152" marT="27432" marB="27432" anchor="ctr">
                    <a:solidFill>
                      <a:srgbClr val="E1EDFE"/>
                    </a:solidFill>
                  </a:tcPr>
                </a:tc>
              </a:tr>
            </a:tbl>
          </a:graphicData>
        </a:graphic>
      </p:graphicFrame>
      <p:sp>
        <p:nvSpPr>
          <p:cNvPr id="10" name="Pentagon 9"/>
          <p:cNvSpPr/>
          <p:nvPr/>
        </p:nvSpPr>
        <p:spPr>
          <a:xfrm>
            <a:off x="548640" y="3291840"/>
            <a:ext cx="2739313" cy="777240"/>
          </a:xfrm>
          <a:prstGeom prst="homePlate">
            <a:avLst>
              <a:gd name="adj" fmla="val 25000"/>
            </a:avLst>
          </a:prstGeom>
          <a:solidFill>
            <a:srgbClr val="0D6E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3291840"/>
            <a:ext cx="2373553" cy="7772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기획/분석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4160520"/>
            <a:ext cx="2739313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1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11/05 ~ 11/06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4480560"/>
            <a:ext cx="2739313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2일 · 13시간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4846320"/>
            <a:ext cx="2556433" cy="1463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0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기획서 · 역할 분담표 · WBS
위험 관리 · 요구사항
시스템 구성도 · 개발 환경</a:t>
            </a:r>
          </a:p>
        </p:txBody>
      </p:sp>
      <p:sp>
        <p:nvSpPr>
          <p:cNvPr id="15" name="Chevron 14"/>
          <p:cNvSpPr/>
          <p:nvPr/>
        </p:nvSpPr>
        <p:spPr>
          <a:xfrm>
            <a:off x="3333673" y="3291840"/>
            <a:ext cx="2739313" cy="777240"/>
          </a:xfrm>
          <a:prstGeom prst="chevron">
            <a:avLst>
              <a:gd name="adj" fmla="val 25000"/>
            </a:avLst>
          </a:prstGeom>
          <a:solidFill>
            <a:srgbClr val="FD7E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62273" y="3291840"/>
            <a:ext cx="2373553" cy="7772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설계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333673" y="4160520"/>
            <a:ext cx="2739313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1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11/09 ~ 11/10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33673" y="4480560"/>
            <a:ext cx="2739313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2일 · 16시간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25113" y="4846320"/>
            <a:ext cx="2556433" cy="1463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0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ERD·테이블 정의서
화면 설계서 · API 명세서</a:t>
            </a:r>
          </a:p>
        </p:txBody>
      </p:sp>
      <p:sp>
        <p:nvSpPr>
          <p:cNvPr id="20" name="Chevron 19"/>
          <p:cNvSpPr/>
          <p:nvPr/>
        </p:nvSpPr>
        <p:spPr>
          <a:xfrm>
            <a:off x="6118706" y="3291840"/>
            <a:ext cx="2739313" cy="777240"/>
          </a:xfrm>
          <a:prstGeom prst="chevron">
            <a:avLst>
              <a:gd name="adj" fmla="val 25000"/>
            </a:avLst>
          </a:prstGeom>
          <a:solidFill>
            <a:srgbClr val="0D6E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47306" y="3291840"/>
            <a:ext cx="2373553" cy="7772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구현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18706" y="4160520"/>
            <a:ext cx="2739313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1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11/11 ~ 11/18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118706" y="4480560"/>
            <a:ext cx="2739313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6일 · 48시간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10146" y="4846320"/>
            <a:ext cx="2556433" cy="1463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0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기능 구현 목록
(14개 기능)</a:t>
            </a:r>
          </a:p>
        </p:txBody>
      </p:sp>
      <p:sp>
        <p:nvSpPr>
          <p:cNvPr id="25" name="Chevron 24"/>
          <p:cNvSpPr/>
          <p:nvPr/>
        </p:nvSpPr>
        <p:spPr>
          <a:xfrm>
            <a:off x="8903739" y="3291840"/>
            <a:ext cx="2739313" cy="777240"/>
          </a:xfrm>
          <a:prstGeom prst="chevron">
            <a:avLst>
              <a:gd name="adj" fmla="val 25000"/>
            </a:avLst>
          </a:prstGeom>
          <a:solidFill>
            <a:srgbClr val="FD7E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132339" y="3291840"/>
            <a:ext cx="2373553" cy="7772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배포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903739" y="4160520"/>
            <a:ext cx="2739313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1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11/19 ~ 11/23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903739" y="4480560"/>
            <a:ext cx="2739313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3일 · 19시간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995179" y="4846320"/>
            <a:ext cx="2556433" cy="1463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0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테스트 결과서 · 결과보고서
결과물 제출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D6E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57200"/>
            <a:ext cx="109728" cy="566928"/>
          </a:xfrm>
          <a:prstGeom prst="rect">
            <a:avLst/>
          </a:prstGeom>
          <a:solidFill>
            <a:srgbClr val="0D6E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84048"/>
            <a:ext cx="914400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시스템 구성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589520" y="457200"/>
            <a:ext cx="4114800" cy="5486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r">
              <a:spcAft>
                <a:spcPts val="600"/>
              </a:spcAft>
            </a:pPr>
            <a:r>
              <a:rPr sz="140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Render + AWS EC2 + TiDB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48640" y="1188720"/>
            <a:ext cx="11094415" cy="0"/>
          </a:xfrm>
          <a:prstGeom prst="line">
            <a:avLst/>
          </a:prstGeom>
          <a:ln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48640" y="6400800"/>
            <a:ext cx="8229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트래블핏(TravelFit) · Semi-Project · 3조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00800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6</a:t>
            </a:r>
          </a:p>
        </p:txBody>
      </p:sp>
      <p:pic>
        <p:nvPicPr>
          <p:cNvPr id="9" name="Picture 8" descr="2178131c30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9027" y="1371600"/>
            <a:ext cx="7274426" cy="49377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138160" y="1463040"/>
            <a:ext cx="3566160" cy="47548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200"/>
              </a:spcAft>
            </a:pPr>
            <a:r>
              <a:rPr sz="1100" b="0">
                <a:solidFill>
                  <a:srgbClr val="0D6EFD"/>
                </a:solidFill>
                <a:latin typeface="맑은 고딕"/>
                <a:ea typeface="맑은 고딕"/>
                <a:cs typeface="맑은 고딕"/>
              </a:rPr>
              <a:t>■ </a:t>
            </a:r>
            <a:r>
              <a:rPr sz="1500" b="1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Frontend</a:t>
            </a:r>
            <a:r>
              <a:rPr sz="150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  HTML5·CSS3·Vanilla JS·Bootstrap 5</a:t>
            </a:r>
          </a:p>
          <a:p>
            <a:pPr algn="l">
              <a:spcAft>
                <a:spcPts val="1200"/>
              </a:spcAft>
            </a:pPr>
            <a:r>
              <a:rPr sz="1100" b="0">
                <a:solidFill>
                  <a:srgbClr val="0D6EFD"/>
                </a:solidFill>
                <a:latin typeface="맑은 고딕"/>
                <a:ea typeface="맑은 고딕"/>
                <a:cs typeface="맑은 고딕"/>
              </a:rPr>
              <a:t>■ </a:t>
            </a:r>
            <a:r>
              <a:rPr sz="1500" b="1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Backend</a:t>
            </a:r>
            <a:r>
              <a:rPr sz="150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  Python 3.11 FastAPI (Render)</a:t>
            </a:r>
          </a:p>
          <a:p>
            <a:pPr algn="l">
              <a:spcAft>
                <a:spcPts val="1200"/>
              </a:spcAft>
            </a:pPr>
            <a:r>
              <a:rPr sz="1100" b="0">
                <a:solidFill>
                  <a:srgbClr val="0D6EFD"/>
                </a:solidFill>
                <a:latin typeface="맑은 고딕"/>
                <a:ea typeface="맑은 고딕"/>
                <a:cs typeface="맑은 고딕"/>
              </a:rPr>
              <a:t>■ </a:t>
            </a:r>
            <a:r>
              <a:rPr sz="1500" b="1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Database</a:t>
            </a:r>
            <a:r>
              <a:rPr sz="150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  MySQL 8.x(개발) / TiDB(운영)</a:t>
            </a:r>
          </a:p>
          <a:p>
            <a:pPr algn="l">
              <a:spcAft>
                <a:spcPts val="1200"/>
              </a:spcAft>
            </a:pPr>
            <a:r>
              <a:rPr sz="1100" b="0">
                <a:solidFill>
                  <a:srgbClr val="0D6EFD"/>
                </a:solidFill>
                <a:latin typeface="맑은 고딕"/>
                <a:ea typeface="맑은 고딕"/>
                <a:cs typeface="맑은 고딕"/>
              </a:rPr>
              <a:t>■ </a:t>
            </a:r>
            <a:r>
              <a:rPr sz="1500" b="1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RPA</a:t>
            </a:r>
            <a:r>
              <a:rPr sz="150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  Python 3.11.9 · Requests · BS4 (EC2 cron)</a:t>
            </a:r>
          </a:p>
          <a:p>
            <a:pPr algn="l">
              <a:spcAft>
                <a:spcPts val="1200"/>
              </a:spcAft>
            </a:pPr>
            <a:r>
              <a:rPr sz="1100" b="0">
                <a:solidFill>
                  <a:srgbClr val="0D6EFD"/>
                </a:solidFill>
                <a:latin typeface="맑은 고딕"/>
                <a:ea typeface="맑은 고딕"/>
                <a:cs typeface="맑은 고딕"/>
              </a:rPr>
              <a:t>■ </a:t>
            </a:r>
            <a:r>
              <a:rPr sz="1500" b="1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공공데이터</a:t>
            </a:r>
            <a:r>
              <a:rPr sz="150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  외교부 여행경보 · 수출입은행 환율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D6E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57200"/>
            <a:ext cx="109728" cy="566928"/>
          </a:xfrm>
          <a:prstGeom prst="rect">
            <a:avLst/>
          </a:prstGeom>
          <a:solidFill>
            <a:srgbClr val="0D6E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84048"/>
            <a:ext cx="914400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핵심 기술: RPA 수집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589520" y="457200"/>
            <a:ext cx="4114800" cy="5486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r">
              <a:spcAft>
                <a:spcPts val="600"/>
              </a:spcAft>
            </a:pPr>
            <a:r>
              <a:rPr sz="140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Python RPA 3종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48640" y="1188720"/>
            <a:ext cx="11094415" cy="0"/>
          </a:xfrm>
          <a:prstGeom prst="line">
            <a:avLst/>
          </a:prstGeom>
          <a:ln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48640" y="6400800"/>
            <a:ext cx="8229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트래블핏(TravelFit) · Semi-Project · 3조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00800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7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48640" y="1463040"/>
          <a:ext cx="11064238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54099"/>
                <a:gridCol w="1860358"/>
                <a:gridCol w="7049781"/>
              </a:tblGrid>
              <a:tr h="594360"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봇</a:t>
                      </a:r>
                    </a:p>
                  </a:txBody>
                  <a:tcPr marL="73152" marR="73152" marT="27432" marB="27432" anchor="ctr">
                    <a:solidFill>
                      <a:srgbClr val="0D6E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실행 주기</a:t>
                      </a:r>
                    </a:p>
                  </a:txBody>
                  <a:tcPr marL="73152" marR="73152" marT="27432" marB="27432" anchor="ctr">
                    <a:solidFill>
                      <a:srgbClr val="0D6E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자동화 내용</a:t>
                      </a:r>
                    </a:p>
                  </a:txBody>
                  <a:tcPr marL="73152" marR="73152" marT="27432" marB="27432" anchor="ctr">
                    <a:solidFill>
                      <a:srgbClr val="0D6EFD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BOT-01 특가 수집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30분 (09~21시)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여행사 3곳 특가 페이지 요청(2초 간격) → BeautifulSoup4 파싱 → pandas 정제 → 일괄 등록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BOT-02 공공데이터</a:t>
                      </a:r>
                    </a:p>
                  </a:txBody>
                  <a:tcPr marL="73152" marR="73152" marT="27432" marB="27432" anchor="ctr">
                    <a:solidFill>
                      <a:srgbClr val="E1EDF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매일 07:00</a:t>
                      </a:r>
                    </a:p>
                  </a:txBody>
                  <a:tcPr marL="73152" marR="73152" marT="27432" marB="27432" anchor="ctr">
                    <a:solidFill>
                      <a:srgbClr val="E1EDF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외교부 여행경보 · 수출입은행 환율 수집 → 국가 코드 매핑 → 갱신</a:t>
                      </a:r>
                    </a:p>
                  </a:txBody>
                  <a:tcPr marL="73152" marR="73152" marT="27432" marB="27432" anchor="ctr">
                    <a:solidFill>
                      <a:srgbClr val="E1EDFE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BOT-03 일일 리포트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매일 21:30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당일 특가 집계 → Seaborn·Matplotlib 차트 → 엑셀 리포트 업로드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731520" y="4114800"/>
            <a:ext cx="10789920" cy="20116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200"/>
              </a:spcAft>
            </a:pPr>
            <a:r>
              <a:rPr sz="1200" b="0">
                <a:solidFill>
                  <a:srgbClr val="0D6EFD"/>
                </a:solidFill>
                <a:latin typeface="맑은 고딕"/>
                <a:ea typeface="맑은 고딕"/>
                <a:cs typeface="맑은 고딕"/>
              </a:rPr>
              <a:t>■ </a:t>
            </a:r>
            <a:r>
              <a:rPr sz="1600" b="1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셀렉터 설정 파일</a:t>
            </a:r>
            <a:r>
              <a:rPr sz="160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  여행사별 CSS 셀렉터를 selectors.json으로 분리 → 페이지 변경에 빠르게 대응</a:t>
            </a:r>
          </a:p>
          <a:p>
            <a:pPr algn="l">
              <a:spcAft>
                <a:spcPts val="1200"/>
              </a:spcAft>
            </a:pPr>
            <a:r>
              <a:rPr sz="1200" b="0">
                <a:solidFill>
                  <a:srgbClr val="0D6EFD"/>
                </a:solidFill>
                <a:latin typeface="맑은 고딕"/>
                <a:ea typeface="맑은 고딕"/>
                <a:cs typeface="맑은 고딕"/>
              </a:rPr>
              <a:t>■ </a:t>
            </a:r>
            <a:r>
              <a:rPr sz="1600" b="1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예외 처리</a:t>
            </a:r>
            <a:r>
              <a:rPr sz="160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  HTTP 오류 3회 재시도(2·4·8초), 파싱 실패율 20% 초과 시 해당 여행사 수집 중단·경고</a:t>
            </a:r>
          </a:p>
          <a:p>
            <a:pPr algn="l">
              <a:spcAft>
                <a:spcPts val="1200"/>
              </a:spcAft>
            </a:pPr>
            <a:r>
              <a:rPr sz="1200" b="0">
                <a:solidFill>
                  <a:srgbClr val="0D6EFD"/>
                </a:solidFill>
                <a:latin typeface="맑은 고딕"/>
                <a:ea typeface="맑은 고딕"/>
                <a:cs typeface="맑은 고딕"/>
              </a:rPr>
              <a:t>■ </a:t>
            </a:r>
            <a:r>
              <a:rPr sz="1600" b="1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수집 원칙</a:t>
            </a:r>
            <a:r>
              <a:rPr sz="160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  robots.txt 허용 경로만, User-Agent 명시, 상품명·가격 등 사실 정보만 저장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D6E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57200"/>
            <a:ext cx="109728" cy="566928"/>
          </a:xfrm>
          <a:prstGeom prst="rect">
            <a:avLst/>
          </a:prstGeom>
          <a:solidFill>
            <a:srgbClr val="0D6E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84048"/>
            <a:ext cx="914400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RPA 수집·정제 흐름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589520" y="457200"/>
            <a:ext cx="4114800" cy="5486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r">
              <a:spcAft>
                <a:spcPts val="600"/>
              </a:spcAft>
            </a:pPr>
            <a:r>
              <a:rPr sz="140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30분마다 자동 실행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48640" y="1188720"/>
            <a:ext cx="11094415" cy="0"/>
          </a:xfrm>
          <a:prstGeom prst="line">
            <a:avLst/>
          </a:prstGeom>
          <a:ln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48640" y="6400800"/>
            <a:ext cx="8229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트래블핏(TravelFit) · Semi-Project · 3조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00800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8</a:t>
            </a:r>
          </a:p>
        </p:txBody>
      </p:sp>
      <p:pic>
        <p:nvPicPr>
          <p:cNvPr id="9" name="Picture 8" descr="8f9db25f23e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98498" y="1371600"/>
            <a:ext cx="8764524" cy="493776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D6E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57200"/>
            <a:ext cx="109728" cy="566928"/>
          </a:xfrm>
          <a:prstGeom prst="rect">
            <a:avLst/>
          </a:prstGeom>
          <a:solidFill>
            <a:srgbClr val="0D6E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84048"/>
            <a:ext cx="914400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데이터 정제 및 추천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589520" y="457200"/>
            <a:ext cx="4114800" cy="5486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r">
              <a:spcAft>
                <a:spcPts val="600"/>
              </a:spcAft>
            </a:pPr>
            <a:r>
              <a:rPr sz="140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pandas + scikit-learn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48640" y="1188720"/>
            <a:ext cx="11094415" cy="0"/>
          </a:xfrm>
          <a:prstGeom prst="line">
            <a:avLst/>
          </a:prstGeom>
          <a:ln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48640" y="6400800"/>
            <a:ext cx="8229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트래블핏(TravelFit) · Semi-Project · 3조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00800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9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463040"/>
            <a:ext cx="11064240" cy="1143000"/>
          </a:xfrm>
          <a:prstGeom prst="roundRect">
            <a:avLst>
              <a:gd name="adj" fmla="val 10000"/>
            </a:avLst>
          </a:prstGeom>
          <a:solidFill>
            <a:srgbClr val="E1ED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1463040"/>
            <a:ext cx="10607040" cy="11430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0D6EFD"/>
                </a:solidFill>
                <a:latin typeface="맑은 고딕"/>
                <a:ea typeface="맑은 고딕"/>
                <a:cs typeface="맑은 고딕"/>
              </a:rPr>
              <a:t>추천 점수 = </a:t>
            </a:r>
            <a:r>
              <a:rPr sz="1800" b="0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선호 유사도 × 60 + 할인율 가점(최대 20) + 출발월 일치 10 + 예산 내 10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선호 유사도: 상품 피처와 선호 벡터의 코사인 유사도 · 여행경보 3단계 이상·잔여석 0 상품은 제외 (생성형 AI 미사용)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926080"/>
            <a:ext cx="2608326" cy="2194560"/>
          </a:xfrm>
          <a:prstGeom prst="roundRect">
            <a:avLst>
              <a:gd name="adj" fmla="val 8000"/>
            </a:avLst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" y="2926080"/>
            <a:ext cx="82296" cy="2194560"/>
          </a:xfrm>
          <a:prstGeom prst="rect">
            <a:avLst/>
          </a:prstGeom>
          <a:solidFill>
            <a:srgbClr val="0D6E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3035808"/>
            <a:ext cx="2334006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0D6EFD"/>
                </a:solidFill>
                <a:latin typeface="맑은 고딕"/>
                <a:ea typeface="맑은 고딕"/>
                <a:cs typeface="맑은 고딕"/>
              </a:rPr>
              <a:t>1,850건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3749040"/>
            <a:ext cx="2334006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1일 수집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4114800"/>
            <a:ext cx="2334006" cy="960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3개 여행사, 고유 상품 약 620개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367278" y="2926080"/>
            <a:ext cx="2608326" cy="2194560"/>
          </a:xfrm>
          <a:prstGeom prst="roundRect">
            <a:avLst>
              <a:gd name="adj" fmla="val 8000"/>
            </a:avLst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367278" y="2926080"/>
            <a:ext cx="82296" cy="2194560"/>
          </a:xfrm>
          <a:prstGeom prst="rect">
            <a:avLst/>
          </a:prstGeom>
          <a:solidFill>
            <a:srgbClr val="0D6E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550158" y="3035808"/>
            <a:ext cx="2334006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0D6EFD"/>
                </a:solidFill>
                <a:latin typeface="맑은 고딕"/>
                <a:ea typeface="맑은 고딕"/>
                <a:cs typeface="맑은 고딕"/>
              </a:rPr>
              <a:t>0.6%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50158" y="3749040"/>
            <a:ext cx="2334006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정제 오류율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50158" y="4114800"/>
            <a:ext cx="2334006" cy="960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가격·박/일·출발일 표준화, 중복 제거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85916" y="2926080"/>
            <a:ext cx="2608326" cy="2194560"/>
          </a:xfrm>
          <a:prstGeom prst="roundRect">
            <a:avLst>
              <a:gd name="adj" fmla="val 8000"/>
            </a:avLst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85916" y="2926080"/>
            <a:ext cx="82296" cy="2194560"/>
          </a:xfrm>
          <a:prstGeom prst="rect">
            <a:avLst/>
          </a:prstGeom>
          <a:solidFill>
            <a:srgbClr val="0D6E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68796" y="3035808"/>
            <a:ext cx="2334006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0D6EFD"/>
                </a:solidFill>
                <a:latin typeface="맑은 고딕"/>
                <a:ea typeface="맑은 고딕"/>
                <a:cs typeface="맑은 고딕"/>
              </a:rPr>
              <a:t>4.2점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68796" y="3749040"/>
            <a:ext cx="2334006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추천 만족도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68796" y="4114800"/>
            <a:ext cx="2334006" cy="960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Top 10 + 추천 사유 (5점 만점, 12명)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004554" y="2926080"/>
            <a:ext cx="2608326" cy="2194560"/>
          </a:xfrm>
          <a:prstGeom prst="roundRect">
            <a:avLst>
              <a:gd name="adj" fmla="val 8000"/>
            </a:avLst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004554" y="2926080"/>
            <a:ext cx="82296" cy="2194560"/>
          </a:xfrm>
          <a:prstGeom prst="rect">
            <a:avLst/>
          </a:prstGeom>
          <a:solidFill>
            <a:srgbClr val="0D6E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87434" y="3035808"/>
            <a:ext cx="2334006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0D6EFD"/>
                </a:solidFill>
                <a:latin typeface="맑은 고딕"/>
                <a:ea typeface="맑은 고딕"/>
                <a:cs typeface="맑은 고딕"/>
              </a:rPr>
              <a:t>21:30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7434" y="3749040"/>
            <a:ext cx="2334006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일일 리포트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87434" y="4114800"/>
            <a:ext cx="2334006" cy="960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엑셀 + Seaborn·Matplotlib 차트 자동 생성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D6E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57200"/>
            <a:ext cx="109728" cy="566928"/>
          </a:xfrm>
          <a:prstGeom prst="rect">
            <a:avLst/>
          </a:prstGeom>
          <a:solidFill>
            <a:srgbClr val="0D6E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84048"/>
            <a:ext cx="914400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문제 해결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589520" y="457200"/>
            <a:ext cx="4114800" cy="5486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r">
              <a:spcAft>
                <a:spcPts val="600"/>
              </a:spcAft>
            </a:pPr>
            <a:r>
              <a:rPr sz="140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Trouble Shooting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48640" y="1188720"/>
            <a:ext cx="11094415" cy="0"/>
          </a:xfrm>
          <a:prstGeom prst="line">
            <a:avLst/>
          </a:prstGeom>
          <a:ln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48640" y="6400800"/>
            <a:ext cx="8229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트래블핏(TravelFit) · Semi-Project · 3조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00800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10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48640" y="1463040"/>
          <a:ext cx="11064240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17520"/>
                <a:gridCol w="3200400"/>
                <a:gridCol w="4846320"/>
              </a:tblGrid>
              <a:tr h="731520"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문제</a:t>
                      </a:r>
                    </a:p>
                  </a:txBody>
                  <a:tcPr marL="73152" marR="73152" marT="27432" marB="27432" anchor="ctr">
                    <a:solidFill>
                      <a:srgbClr val="0D6E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원인</a:t>
                      </a:r>
                    </a:p>
                  </a:txBody>
                  <a:tcPr marL="73152" marR="73152" marT="27432" marB="27432" anchor="ctr">
                    <a:solidFill>
                      <a:srgbClr val="0D6E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해결</a:t>
                      </a:r>
                    </a:p>
                  </a:txBody>
                  <a:tcPr marL="73152" marR="73152" marT="27432" marB="27432" anchor="ctr">
                    <a:solidFill>
                      <a:srgbClr val="0D6EFD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노랑풍선 목록이 비어 있게 수집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JavaScript 동적 렌더링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서버 렌더링되는 특가 기획전 페이지로 수집 대상 변경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가격 파싱 오류</a:t>
                      </a:r>
                    </a:p>
                  </a:txBody>
                  <a:tcPr marL="73152" marR="73152" marT="27432" marB="27432" anchor="ctr">
                    <a:solidFill>
                      <a:srgbClr val="E1EDF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"1,290,000원~", "129만원" 등 표기 상이</a:t>
                      </a:r>
                    </a:p>
                  </a:txBody>
                  <a:tcPr marL="73152" marR="73152" marT="27432" marB="27432" anchor="ctr">
                    <a:solidFill>
                      <a:srgbClr val="E1EDF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정규식 parse_price 함수 + 표기 유형별 단위 테스트 22건</a:t>
                      </a:r>
                    </a:p>
                  </a:txBody>
                  <a:tcPr marL="73152" marR="73152" marT="27432" marB="27432" anchor="ctr">
                    <a:solidFill>
                      <a:srgbClr val="E1EDFE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같은 상품 중복 노출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여러 기획전에 동일 상품 반복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(여행사, 상품 코드, 출발일) 키로 중복 제거 후 upsert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모두투어 가격 중복 파싱</a:t>
                      </a:r>
                    </a:p>
                  </a:txBody>
                  <a:tcPr marL="73152" marR="73152" marT="27432" marB="27432" anchor="ctr">
                    <a:solidFill>
                      <a:srgbClr val="E1EDF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유류할증료 포함가 동시 표기</a:t>
                      </a:r>
                    </a:p>
                  </a:txBody>
                  <a:tcPr marL="73152" marR="73152" marT="27432" marB="27432" anchor="ctr">
                    <a:solidFill>
                      <a:srgbClr val="E1EDF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기본 판매가 셀렉터로 한정, 파서 테스트 추가</a:t>
                      </a:r>
                    </a:p>
                  </a:txBody>
                  <a:tcPr marL="73152" marR="73152" marT="27432" marB="27432" anchor="ctr">
                    <a:solidFill>
                      <a:srgbClr val="E1EDFE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여행경보 국가 매칭 실패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미국/미합중국 등 국가명 차이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ISO 국가 코드 매핑 테이블 적용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D6E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57200"/>
            <a:ext cx="109728" cy="566928"/>
          </a:xfrm>
          <a:prstGeom prst="rect">
            <a:avLst/>
          </a:prstGeom>
          <a:solidFill>
            <a:srgbClr val="0D6E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84048"/>
            <a:ext cx="914400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테스트 결과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589520" y="457200"/>
            <a:ext cx="4114800" cy="5486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r">
              <a:spcAft>
                <a:spcPts val="600"/>
              </a:spcAft>
            </a:pPr>
            <a:r>
              <a:rPr sz="140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테스트 11/19 ~ 11/20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48640" y="1188720"/>
            <a:ext cx="11094415" cy="0"/>
          </a:xfrm>
          <a:prstGeom prst="line">
            <a:avLst/>
          </a:prstGeom>
          <a:ln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48640" y="6400800"/>
            <a:ext cx="8229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트래블핏(TravelFit) · Semi-Project · 3조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00800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11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463040"/>
            <a:ext cx="2608326" cy="2011680"/>
          </a:xfrm>
          <a:prstGeom prst="roundRect">
            <a:avLst>
              <a:gd name="adj" fmla="val 8000"/>
            </a:avLst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8640" y="1463040"/>
            <a:ext cx="82296" cy="2011680"/>
          </a:xfrm>
          <a:prstGeom prst="rect">
            <a:avLst/>
          </a:prstGeom>
          <a:solidFill>
            <a:srgbClr val="0D6E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1572768"/>
            <a:ext cx="2334006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0D6EFD"/>
                </a:solidFill>
                <a:latin typeface="맑은 고딕"/>
                <a:ea typeface="맑은 고딕"/>
                <a:cs typeface="맑은 고딕"/>
              </a:rPr>
              <a:t>82건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286000"/>
            <a:ext cx="2334006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단위·통합 테스트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2651760"/>
            <a:ext cx="2334006" cy="7772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1차 성공 79건, 결함 조치 후 전체 통과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367278" y="1463040"/>
            <a:ext cx="2608326" cy="2011680"/>
          </a:xfrm>
          <a:prstGeom prst="roundRect">
            <a:avLst>
              <a:gd name="adj" fmla="val 8000"/>
            </a:avLst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367278" y="1463040"/>
            <a:ext cx="82296" cy="2011680"/>
          </a:xfrm>
          <a:prstGeom prst="rect">
            <a:avLst/>
          </a:prstGeom>
          <a:solidFill>
            <a:srgbClr val="0D6E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50158" y="1572768"/>
            <a:ext cx="2334006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0D6EFD"/>
                </a:solidFill>
                <a:latin typeface="맑은 고딕"/>
                <a:ea typeface="맑은 고딕"/>
                <a:cs typeface="맑은 고딕"/>
              </a:rPr>
              <a:t>3건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50158" y="2286000"/>
            <a:ext cx="2334006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결함 조치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50158" y="2651760"/>
            <a:ext cx="2334006" cy="7772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가격 중복 파싱, 여행경보 매칭, 모바일 필터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85916" y="1463040"/>
            <a:ext cx="2608326" cy="2011680"/>
          </a:xfrm>
          <a:prstGeom prst="roundRect">
            <a:avLst>
              <a:gd name="adj" fmla="val 8000"/>
            </a:avLst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185916" y="1463040"/>
            <a:ext cx="82296" cy="2011680"/>
          </a:xfrm>
          <a:prstGeom prst="rect">
            <a:avLst/>
          </a:prstGeom>
          <a:solidFill>
            <a:srgbClr val="0D6E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68796" y="1572768"/>
            <a:ext cx="2334006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0D6EFD"/>
                </a:solidFill>
                <a:latin typeface="맑은 고딕"/>
                <a:ea typeface="맑은 고딕"/>
                <a:cs typeface="맑은 고딕"/>
              </a:rPr>
              <a:t>97.4%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68796" y="2286000"/>
            <a:ext cx="2334006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수집 성공률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68796" y="2651760"/>
            <a:ext cx="2334006" cy="7772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3일간 72회 실행 (기준 95%)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04554" y="1463040"/>
            <a:ext cx="2608326" cy="2011680"/>
          </a:xfrm>
          <a:prstGeom prst="roundRect">
            <a:avLst>
              <a:gd name="adj" fmla="val 8000"/>
            </a:avLst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004554" y="1463040"/>
            <a:ext cx="82296" cy="2011680"/>
          </a:xfrm>
          <a:prstGeom prst="rect">
            <a:avLst/>
          </a:prstGeom>
          <a:solidFill>
            <a:srgbClr val="0D6E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187434" y="1572768"/>
            <a:ext cx="2334006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0D6EFD"/>
                </a:solidFill>
                <a:latin typeface="맑은 고딕"/>
                <a:ea typeface="맑은 고딕"/>
                <a:cs typeface="맑은 고딕"/>
              </a:rPr>
              <a:t>0.41초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87434" y="2286000"/>
            <a:ext cx="2334006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목록 API 응답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87434" y="2651760"/>
            <a:ext cx="2334006" cy="7772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추천 API 0.63초 (기준 1초)</a:t>
            </a:r>
          </a:p>
        </p:txBody>
      </p:sp>
      <p:graphicFrame>
        <p:nvGraphicFramePr>
          <p:cNvPr id="29" name="Table 28"/>
          <p:cNvGraphicFramePr>
            <a:graphicFrameLocks noGrp="1"/>
          </p:cNvGraphicFramePr>
          <p:nvPr/>
        </p:nvGraphicFramePr>
        <p:xfrm>
          <a:off x="548640" y="3931920"/>
          <a:ext cx="11064235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799"/>
                <a:gridCol w="1280159"/>
                <a:gridCol w="1280159"/>
                <a:gridCol w="2194559"/>
                <a:gridCol w="2194559"/>
              </a:tblGrid>
              <a:tr h="548640"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구분</a:t>
                      </a:r>
                    </a:p>
                  </a:txBody>
                  <a:tcPr marL="73152" marR="73152" marT="27432" marB="27432" anchor="ctr">
                    <a:solidFill>
                      <a:srgbClr val="0D6E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케이스</a:t>
                      </a:r>
                    </a:p>
                  </a:txBody>
                  <a:tcPr marL="73152" marR="73152" marT="27432" marB="27432" anchor="ctr">
                    <a:solidFill>
                      <a:srgbClr val="0D6E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성공</a:t>
                      </a:r>
                    </a:p>
                  </a:txBody>
                  <a:tcPr marL="73152" marR="73152" marT="27432" marB="27432" anchor="ctr">
                    <a:solidFill>
                      <a:srgbClr val="0D6E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실패</a:t>
                      </a:r>
                    </a:p>
                  </a:txBody>
                  <a:tcPr marL="73152" marR="73152" marT="27432" marB="27432" anchor="ctr">
                    <a:solidFill>
                      <a:srgbClr val="0D6E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성공률</a:t>
                      </a:r>
                    </a:p>
                  </a:txBody>
                  <a:tcPr marL="73152" marR="73152" marT="27432" marB="27432" anchor="ctr">
                    <a:solidFill>
                      <a:srgbClr val="0D6EFD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단위 테스트 (pytest: 파서·정제·추천·API)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52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52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100%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통합 테스트 (기능 시나리오)</a:t>
                      </a:r>
                    </a:p>
                  </a:txBody>
                  <a:tcPr marL="73152" marR="73152" marT="27432" marB="27432" anchor="ctr">
                    <a:solidFill>
                      <a:srgbClr val="E1EDF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30</a:t>
                      </a:r>
                    </a:p>
                  </a:txBody>
                  <a:tcPr marL="73152" marR="73152" marT="27432" marB="27432" anchor="ctr">
                    <a:solidFill>
                      <a:srgbClr val="E1EDF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27</a:t>
                      </a:r>
                    </a:p>
                  </a:txBody>
                  <a:tcPr marL="73152" marR="73152" marT="27432" marB="27432" anchor="ctr">
                    <a:solidFill>
                      <a:srgbClr val="E1EDF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 → 조치 후 성공</a:t>
                      </a:r>
                    </a:p>
                  </a:txBody>
                  <a:tcPr marL="73152" marR="73152" marT="27432" marB="27432" anchor="ctr">
                    <a:solidFill>
                      <a:srgbClr val="E1EDF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90.0% → 100%</a:t>
                      </a:r>
                    </a:p>
                  </a:txBody>
                  <a:tcPr marL="73152" marR="73152" marT="27432" marB="27432" anchor="ctr">
                    <a:solidFill>
                      <a:srgbClr val="E1EDFE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D6E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57200"/>
            <a:ext cx="109728" cy="566928"/>
          </a:xfrm>
          <a:prstGeom prst="rect">
            <a:avLst/>
          </a:prstGeom>
          <a:solidFill>
            <a:srgbClr val="0D6E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84048"/>
            <a:ext cx="914400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시연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589520" y="457200"/>
            <a:ext cx="4114800" cy="5486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r">
              <a:spcAft>
                <a:spcPts val="600"/>
              </a:spcAft>
            </a:pPr>
            <a:r>
              <a:rPr sz="140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약 3분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48640" y="1188720"/>
            <a:ext cx="11094415" cy="0"/>
          </a:xfrm>
          <a:prstGeom prst="line">
            <a:avLst/>
          </a:prstGeom>
          <a:ln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48640" y="6400800"/>
            <a:ext cx="8229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트래블핏(TravelFit) · Semi-Project · 3조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00800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12</a:t>
            </a:r>
          </a:p>
        </p:txBody>
      </p:sp>
      <p:sp>
        <p:nvSpPr>
          <p:cNvPr id="9" name="Oval 8"/>
          <p:cNvSpPr/>
          <p:nvPr/>
        </p:nvSpPr>
        <p:spPr>
          <a:xfrm>
            <a:off x="822960" y="1463040"/>
            <a:ext cx="530352" cy="530352"/>
          </a:xfrm>
          <a:prstGeom prst="ellipse">
            <a:avLst/>
          </a:prstGeom>
          <a:solidFill>
            <a:srgbClr val="0D6E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1463040"/>
            <a:ext cx="530352" cy="530352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1463040"/>
            <a:ext cx="9875520" cy="530352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0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선호 설정: 동남아 · 100만 원 이하 · 12월 출발 · 3~4박</a:t>
            </a:r>
          </a:p>
        </p:txBody>
      </p:sp>
      <p:sp>
        <p:nvSpPr>
          <p:cNvPr id="12" name="Oval 11"/>
          <p:cNvSpPr/>
          <p:nvPr/>
        </p:nvSpPr>
        <p:spPr>
          <a:xfrm>
            <a:off x="822960" y="2148840"/>
            <a:ext cx="530352" cy="530352"/>
          </a:xfrm>
          <a:prstGeom prst="ellipse">
            <a:avLst/>
          </a:prstGeom>
          <a:solidFill>
            <a:srgbClr val="0D6E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2148840"/>
            <a:ext cx="530352" cy="530352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2148840"/>
            <a:ext cx="9875520" cy="530352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0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오늘의 특가: 여행사 3곳 통합 목록, 할인율 정렬·필터</a:t>
            </a:r>
          </a:p>
        </p:txBody>
      </p:sp>
      <p:sp>
        <p:nvSpPr>
          <p:cNvPr id="15" name="Oval 14"/>
          <p:cNvSpPr/>
          <p:nvPr/>
        </p:nvSpPr>
        <p:spPr>
          <a:xfrm>
            <a:off x="822960" y="2834640"/>
            <a:ext cx="530352" cy="530352"/>
          </a:xfrm>
          <a:prstGeom prst="ellipse">
            <a:avLst/>
          </a:prstGeom>
          <a:solidFill>
            <a:srgbClr val="0D6E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2834640"/>
            <a:ext cx="530352" cy="530352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54480" y="2834640"/>
            <a:ext cx="9875520" cy="530352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0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맞춤 추천 Top 10과 추천 사유 확인</a:t>
            </a:r>
          </a:p>
        </p:txBody>
      </p:sp>
      <p:sp>
        <p:nvSpPr>
          <p:cNvPr id="18" name="Oval 17"/>
          <p:cNvSpPr/>
          <p:nvPr/>
        </p:nvSpPr>
        <p:spPr>
          <a:xfrm>
            <a:off x="822960" y="3520440"/>
            <a:ext cx="530352" cy="530352"/>
          </a:xfrm>
          <a:prstGeom prst="ellipse">
            <a:avLst/>
          </a:prstGeom>
          <a:solidFill>
            <a:srgbClr val="0D6E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3520440"/>
            <a:ext cx="530352" cy="530352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54480" y="3520440"/>
            <a:ext cx="9875520" cy="530352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0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상품 상세: 30일 가격 추이, 여행경보 배지, 원 여행사 링크</a:t>
            </a:r>
          </a:p>
        </p:txBody>
      </p:sp>
      <p:sp>
        <p:nvSpPr>
          <p:cNvPr id="21" name="Oval 20"/>
          <p:cNvSpPr/>
          <p:nvPr/>
        </p:nvSpPr>
        <p:spPr>
          <a:xfrm>
            <a:off x="822960" y="4206240"/>
            <a:ext cx="530352" cy="530352"/>
          </a:xfrm>
          <a:prstGeom prst="ellipse">
            <a:avLst/>
          </a:prstGeom>
          <a:solidFill>
            <a:srgbClr val="0D6E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4206240"/>
            <a:ext cx="530352" cy="530352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54480" y="4206240"/>
            <a:ext cx="9875520" cy="530352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0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추천 결과 엑셀 다운로드</a:t>
            </a:r>
          </a:p>
        </p:txBody>
      </p:sp>
      <p:sp>
        <p:nvSpPr>
          <p:cNvPr id="24" name="Oval 23"/>
          <p:cNvSpPr/>
          <p:nvPr/>
        </p:nvSpPr>
        <p:spPr>
          <a:xfrm>
            <a:off x="822960" y="4892040"/>
            <a:ext cx="530352" cy="530352"/>
          </a:xfrm>
          <a:prstGeom prst="ellipse">
            <a:avLst/>
          </a:prstGeom>
          <a:solidFill>
            <a:srgbClr val="0D6E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4892040"/>
            <a:ext cx="530352" cy="530352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554480" y="4892040"/>
            <a:ext cx="9875520" cy="530352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0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관리자 수집 모니터링: 여행사별 성공률·오류 로그, 일일 리포트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D6E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57200"/>
            <a:ext cx="109728" cy="566928"/>
          </a:xfrm>
          <a:prstGeom prst="rect">
            <a:avLst/>
          </a:prstGeom>
          <a:solidFill>
            <a:srgbClr val="0D6E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84048"/>
            <a:ext cx="914400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성과 및 향후 계획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589520" y="457200"/>
            <a:ext cx="4114800" cy="5486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r">
              <a:spcAft>
                <a:spcPts val="600"/>
              </a:spcAft>
            </a:pPr>
            <a:r>
              <a:rPr sz="140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Final-Project로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48640" y="1188720"/>
            <a:ext cx="11094415" cy="0"/>
          </a:xfrm>
          <a:prstGeom prst="line">
            <a:avLst/>
          </a:prstGeom>
          <a:ln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48640" y="6400800"/>
            <a:ext cx="8229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트래블핏(TravelFit) · Semi-Project · 3조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00800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13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48640" y="1463040"/>
          <a:ext cx="6949440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95600"/>
                <a:gridCol w="2895600"/>
                <a:gridCol w="1158240"/>
              </a:tblGrid>
              <a:tr h="731520"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목표</a:t>
                      </a:r>
                    </a:p>
                  </a:txBody>
                  <a:tcPr marL="73152" marR="73152" marT="27432" marB="27432" anchor="ctr">
                    <a:solidFill>
                      <a:srgbClr val="0D6E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결과</a:t>
                      </a:r>
                    </a:p>
                  </a:txBody>
                  <a:tcPr marL="73152" marR="73152" marT="27432" marB="27432" anchor="ctr">
                    <a:solidFill>
                      <a:srgbClr val="0D6E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달성</a:t>
                      </a:r>
                    </a:p>
                  </a:txBody>
                  <a:tcPr marL="73152" marR="73152" marT="27432" marB="27432" anchor="ctr">
                    <a:solidFill>
                      <a:srgbClr val="0D6EFD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수집 성공률 95% 이상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97.4%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달성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정제 오류율 1% 미만</a:t>
                      </a:r>
                    </a:p>
                  </a:txBody>
                  <a:tcPr marL="73152" marR="73152" marT="27432" marB="27432" anchor="ctr">
                    <a:solidFill>
                      <a:srgbClr val="E1EDF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0.6%</a:t>
                      </a:r>
                    </a:p>
                  </a:txBody>
                  <a:tcPr marL="73152" marR="73152" marT="27432" marB="27432" anchor="ctr">
                    <a:solidFill>
                      <a:srgbClr val="E1EDF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달성</a:t>
                      </a:r>
                    </a:p>
                  </a:txBody>
                  <a:tcPr marL="73152" marR="73152" marT="27432" marB="27432" anchor="ctr">
                    <a:solidFill>
                      <a:srgbClr val="E1EDFE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추천 만족도 4.0 이상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4.2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달성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엑셀 정리 자동화</a:t>
                      </a:r>
                    </a:p>
                  </a:txBody>
                  <a:tcPr marL="73152" marR="73152" marT="27432" marB="27432" anchor="ctr">
                    <a:solidFill>
                      <a:srgbClr val="E1EDF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일일 리포트·추천 엑셀</a:t>
                      </a:r>
                    </a:p>
                  </a:txBody>
                  <a:tcPr marL="73152" marR="73152" marT="27432" marB="27432" anchor="ctr">
                    <a:solidFill>
                      <a:srgbClr val="E1EDF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달성</a:t>
                      </a:r>
                    </a:p>
                  </a:txBody>
                  <a:tcPr marL="73152" marR="73152" marT="27432" marB="27432" anchor="ctr">
                    <a:solidFill>
                      <a:srgbClr val="E1EDFE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클라우드 배포·CI/CD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Render + EC2 + TiDB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달성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7772400" y="1554480"/>
            <a:ext cx="3931920" cy="45720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200"/>
              </a:spcAft>
            </a:pPr>
            <a:r>
              <a:rPr sz="1400" b="0">
                <a:solidFill>
                  <a:srgbClr val="0D6EFD"/>
                </a:solidFill>
                <a:latin typeface="맑은 고딕"/>
                <a:ea typeface="맑은 고딕"/>
                <a:cs typeface="맑은 고딕"/>
              </a:rPr>
              <a:t>■ </a:t>
            </a:r>
            <a:r>
              <a:rPr sz="1800" b="1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한계</a:t>
            </a:r>
            <a:r>
              <a:rPr sz="180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  규칙·유사도 기반 추천, 추천 이유가 단순 태그</a:t>
            </a:r>
          </a:p>
          <a:p>
            <a:pPr algn="l">
              <a:spcAft>
                <a:spcPts val="1200"/>
              </a:spcAft>
            </a:pPr>
            <a:r>
              <a:rPr sz="1400" b="0">
                <a:solidFill>
                  <a:srgbClr val="0D6EFD"/>
                </a:solidFill>
                <a:latin typeface="맑은 고딕"/>
                <a:ea typeface="맑은 고딕"/>
                <a:cs typeface="맑은 고딕"/>
              </a:rPr>
              <a:t>■ </a:t>
            </a:r>
            <a:r>
              <a:rPr sz="1800" b="1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개선</a:t>
            </a:r>
            <a:r>
              <a:rPr sz="180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  Google Gemini로 추천 근거를 자연어로 설명</a:t>
            </a:r>
          </a:p>
          <a:p>
            <a:pPr algn="l">
              <a:spcAft>
                <a:spcPts val="1200"/>
              </a:spcAft>
            </a:pPr>
            <a:r>
              <a:rPr sz="1400" b="0">
                <a:solidFill>
                  <a:srgbClr val="0D6EFD"/>
                </a:solidFill>
                <a:latin typeface="맑은 고딕"/>
                <a:ea typeface="맑은 고딕"/>
                <a:cs typeface="맑은 고딕"/>
              </a:rPr>
              <a:t>■ </a:t>
            </a:r>
            <a:r>
              <a:rPr sz="1800" b="1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재사용</a:t>
            </a:r>
            <a:r>
              <a:rPr sz="180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  수집기 프레임워크·가격 스냅샷·Render/EC2 배포를 Final-Project에 재사용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6E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2194560"/>
            <a:ext cx="12191695" cy="1188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600"/>
              </a:spcAft>
            </a:pPr>
            <a:r>
              <a:rPr sz="6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감사합니다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3474720"/>
            <a:ext cx="12191695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600"/>
              </a:spcAft>
            </a:pPr>
            <a:r>
              <a:rPr sz="280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Q &amp;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4846320"/>
            <a:ext cx="12191695" cy="1097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트래블핏(TravelFit) · Semi-Project · 3조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